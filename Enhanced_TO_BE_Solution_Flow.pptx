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C4E"/>
                </a:solidFill>
              </a:rPr>
              <a:t>TO-BE Solution Flow – SOP Review &amp; Compliance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AI-driven SOP validation, review governance &amp; audit repository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27048"/>
            <a:ext cx="2194560" cy="2743200"/>
          </a:xfrm>
          <a:prstGeom prst="round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2743200"/>
          </a:xfrm>
          <a:prstGeom prst="roundRect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b="1" sz="1800">
                <a:solidFill>
                  <a:srgbClr val="FFFFFF"/>
                </a:solidFill>
              </a:rPr>
              <a:t>SOP Upload</a:t>
            </a:r>
          </a:p>
          <a:p>
            <a:r>
              <a:rPr sz="1200">
                <a:solidFill>
                  <a:srgbClr val="FFFFFF"/>
                </a:solidFill>
              </a:rPr>
              <a:t>Upload SOP document,
base template and
applicable checklist(s).</a:t>
            </a:r>
          </a:p>
        </p:txBody>
      </p:sp>
      <p:sp>
        <p:nvSpPr>
          <p:cNvPr id="6" name="Oval 5"/>
          <p:cNvSpPr/>
          <p:nvPr/>
        </p:nvSpPr>
        <p:spPr>
          <a:xfrm>
            <a:off x="1207007" y="11430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12527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1527048"/>
            <a:ext cx="2194560" cy="2743200"/>
          </a:xfrm>
          <a:prstGeom prst="round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463040"/>
            <a:ext cx="2194560" cy="2743200"/>
          </a:xfrm>
          <a:prstGeom prst="roundRect">
            <a:avLst/>
          </a:prstGeom>
          <a:solidFill>
            <a:srgbClr val="9B59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b="1" sz="1800">
                <a:solidFill>
                  <a:srgbClr val="FFFFFF"/>
                </a:solidFill>
              </a:rPr>
              <a:t>AI Processing &amp; Rating</a:t>
            </a:r>
          </a:p>
          <a:p>
            <a:r>
              <a:rPr sz="1200">
                <a:solidFill>
                  <a:srgbClr val="FFFFFF"/>
                </a:solidFill>
              </a:rPr>
              <a:t>AI engine validates SOP
against checklist &amp;
base template rules.
Generates quality rating.</a:t>
            </a:r>
          </a:p>
        </p:txBody>
      </p:sp>
      <p:sp>
        <p:nvSpPr>
          <p:cNvPr id="10" name="Oval 9"/>
          <p:cNvSpPr/>
          <p:nvPr/>
        </p:nvSpPr>
        <p:spPr>
          <a:xfrm>
            <a:off x="3858768" y="11430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2527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527048"/>
            <a:ext cx="2194560" cy="2743200"/>
          </a:xfrm>
          <a:prstGeom prst="round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1463040"/>
            <a:ext cx="2194560" cy="2743200"/>
          </a:xfrm>
          <a:prstGeom prst="roundRect">
            <a:avLst/>
          </a:prstGeom>
          <a:solidFill>
            <a:srgbClr val="2ECC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b="1" sz="1800">
                <a:solidFill>
                  <a:srgbClr val="FFFFFF"/>
                </a:solidFill>
              </a:rPr>
              <a:t>Reviewer Decisioning</a:t>
            </a:r>
          </a:p>
          <a:p>
            <a:r>
              <a:rPr sz="1200">
                <a:solidFill>
                  <a:srgbClr val="FFFFFF"/>
                </a:solidFill>
              </a:rPr>
              <a:t>Reviewer analyses
feedback &amp; suggested
improvements.
Accept / Override.</a:t>
            </a:r>
          </a:p>
        </p:txBody>
      </p:sp>
      <p:sp>
        <p:nvSpPr>
          <p:cNvPr id="14" name="Oval 13"/>
          <p:cNvSpPr/>
          <p:nvPr/>
        </p:nvSpPr>
        <p:spPr>
          <a:xfrm>
            <a:off x="6693408" y="11430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2527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527048"/>
            <a:ext cx="2194560" cy="2743200"/>
          </a:xfrm>
          <a:prstGeom prst="round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1463040"/>
            <a:ext cx="2194560" cy="2743200"/>
          </a:xfrm>
          <a:prstGeom prst="roundRect">
            <a:avLst/>
          </a:prstGeom>
          <a:solidFill>
            <a:srgbClr val="E74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b="1" sz="1800">
                <a:solidFill>
                  <a:srgbClr val="FFFFFF"/>
                </a:solidFill>
              </a:rPr>
              <a:t>Execution Log Repository</a:t>
            </a:r>
          </a:p>
          <a:p>
            <a:r>
              <a:rPr sz="1200">
                <a:solidFill>
                  <a:srgbClr val="FFFFFF"/>
                </a:solidFill>
              </a:rPr>
              <a:t>Pre-review &amp; post-review
reports archived for
audit, governance &amp;
traceability.</a:t>
            </a:r>
          </a:p>
        </p:txBody>
      </p:sp>
      <p:sp>
        <p:nvSpPr>
          <p:cNvPr id="18" name="Oval 17"/>
          <p:cNvSpPr/>
          <p:nvPr/>
        </p:nvSpPr>
        <p:spPr>
          <a:xfrm>
            <a:off x="9436608" y="11430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2527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2743200"/>
            <a:ext cx="457200" cy="0"/>
          </a:xfrm>
          <a:prstGeom prst="line">
            <a:avLst/>
          </a:prstGeom>
          <a:ln w="381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2907791" y="2633472"/>
            <a:ext cx="201168" cy="219456"/>
          </a:xfrm>
          <a:prstGeom prst="chevron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303520" y="2743200"/>
            <a:ext cx="640080" cy="0"/>
          </a:xfrm>
          <a:prstGeom prst="line">
            <a:avLst/>
          </a:prstGeom>
          <a:ln w="381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5742432" y="2633472"/>
            <a:ext cx="201168" cy="219456"/>
          </a:xfrm>
          <a:prstGeom prst="chevron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138160" y="2743200"/>
            <a:ext cx="548640" cy="0"/>
          </a:xfrm>
          <a:prstGeom prst="line">
            <a:avLst/>
          </a:prstGeom>
          <a:ln w="381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8485632" y="2633472"/>
            <a:ext cx="201168" cy="219456"/>
          </a:xfrm>
          <a:prstGeom prst="chevron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10789920" cy="457200"/>
          </a:xfrm>
          <a:prstGeom prst="roundRect">
            <a:avLst/>
          </a:prstGeom>
          <a:solidFill>
            <a:srgbClr val="162C4E"/>
          </a:solidFill>
          <a:ln>
            <a:solidFill>
              <a:srgbClr val="16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Automated SOP Governance • AI-led Quality Validation • Reviewer Oversight • Audit-ready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